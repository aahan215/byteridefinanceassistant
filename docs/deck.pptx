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spPr>
            <a:solidFill>
              <a:srgbClr val="00D2B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5F7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dates</c:v>
                  </c:pt>
                  <c:pt idx="1">
                    <c:v>filter</c:v>
                  </c:pt>
                  <c:pt idx="2">
                    <c:v>category</c:v>
                  </c:pt>
                  <c:pt idx="3">
                    <c:v>refusal</c:v>
                  </c:pt>
                  <c:pt idx="4">
                    <c:v>grouped</c:v>
                  </c:pt>
                  <c:pt idx="5">
                    <c:v>aggregate</c:v>
                  </c:pt>
                  <c:pt idx="6">
                    <c:v>multiturn</c:v>
                  </c:pt>
                  <c:pt idx="7">
                    <c:v>metric</c:v>
                  </c:pt>
                  <c:pt idx="8">
                    <c:v>ambiguous</c:v>
                  </c:pt>
                  <c:pt idx="9">
                    <c:v>vendor</c:v>
                  </c:pt>
                  <c:pt idx="10">
                    <c:v>channel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16</c:v>
                </c:pt>
                <c:pt idx="1">
                  <c:v>12</c:v>
                </c:pt>
                <c:pt idx="2">
                  <c:v>11</c:v>
                </c:pt>
                <c:pt idx="3">
                  <c:v>11</c:v>
                </c:pt>
                <c:pt idx="4">
                  <c:v>10</c:v>
                </c:pt>
                <c:pt idx="5">
                  <c:v>8</c:v>
                </c:pt>
                <c:pt idx="6">
                  <c:v>5</c:v>
                </c:pt>
                <c:pt idx="7">
                  <c:v>4</c:v>
                </c:pt>
                <c:pt idx="8">
                  <c:v>3</c:v>
                </c:pt>
                <c:pt idx="9">
                  <c:v>2</c:v>
                </c:pt>
                <c:pt idx="10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5F7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2163A"/>
        </a:solidFill>
        <a:ln>
          <a:noFill/>
        </a:ln>
        <a:effectLst/>
      </c:spPr>
    </c:plotArea>
    <c:plotVisOnly val="1"/>
    <c:dispBlanksAs val="span"/>
  </c:chart>
  <c:spPr>
    <a:solidFill>
      <a:srgbClr val="12163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3566160"/>
            <a:ext cx="5943600" cy="5943600"/>
          </a:xfrm>
          <a:prstGeom prst="ellipse">
            <a:avLst/>
          </a:prstGeom>
          <a:solidFill>
            <a:srgbClr val="1D2557">
              <a:alpha val="4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96596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F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BYTERIDE FINANCE ASSISTANT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88036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questions over a financial ledger — every answer computed by SQL against real records, never guessed by a model.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794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9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BVP TECH CATALYST HACKATHON  ·  5-PERSON TEAM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5532120"/>
            <a:ext cx="6309360" cy="658368"/>
          </a:xfrm>
          <a:prstGeom prst="roundRect">
            <a:avLst>
              <a:gd name="adj" fmla="val 12500"/>
            </a:avLst>
          </a:prstGeom>
          <a:solidFill>
            <a:srgbClr val="232C6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14400" y="5532120"/>
            <a:ext cx="5760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8C7"/>
                </a:solidFill>
              </a:rPr>
              <a:t>LIVE DEMO   </a:t>
            </a:r>
            <a:pPr indent="0" marL="0">
              <a:buNone/>
            </a:pPr>
            <a:r>
              <a:rPr lang="en-US" sz="1500" b="1" dirty="0">
                <a:solidFill>
                  <a:srgbClr val="00D2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https://byteride-finance-assistant.onrender.com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ByteRide Finance Assistant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3566160"/>
            <a:ext cx="5943600" cy="5943600"/>
          </a:xfrm>
          <a:prstGeom prst="ellipse">
            <a:avLst/>
          </a:prstGeom>
          <a:solidFill>
            <a:srgbClr val="1D2557">
              <a:alpha val="4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D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0408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Trustworthy answers over real transaction data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60350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teams and individuals ask plain-English questions of raw transaction data: “where did I spend the most”, “what's my tax total”.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generic LLM answers by producing a plausible-looking number — no SQL, no evidence, no way to check it.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finance, a confident wrong number is worse than no answer at all.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needed: an assistant that computes with real records and shows its work — or admits, honestly, when the data can't answer.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949440" y="1737360"/>
            <a:ext cx="4663440" cy="1828800"/>
          </a:xfrm>
          <a:prstGeom prst="roundRect">
            <a:avLst>
              <a:gd name="adj" fmla="val 4500"/>
            </a:avLst>
          </a:prstGeom>
          <a:solidFill>
            <a:srgbClr val="232C6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223760" y="1920240"/>
            <a:ext cx="4114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8A80"/>
                </a:solidFill>
              </a:rPr>
              <a:t>✖  A GENERIC LLM
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i="1" dirty="0">
                <a:solidFill>
                  <a:srgbClr val="CADCFC"/>
                </a:solidFill>
              </a:rPr>
              <a:t>“You spent about ₹15,90,000 last month.”
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B98C7"/>
                </a:solidFill>
              </a:rPr>
              <a:t>No SQL. No evidence. No way to verify it.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949440" y="3794760"/>
            <a:ext cx="4663440" cy="2148840"/>
          </a:xfrm>
          <a:prstGeom prst="roundRect">
            <a:avLst>
              <a:gd name="adj" fmla="val 3830"/>
            </a:avLst>
          </a:prstGeom>
          <a:solidFill>
            <a:srgbClr val="232C6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223760" y="3977640"/>
            <a:ext cx="41148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0D2B4"/>
                </a:solidFill>
              </a:rPr>
              <a:t>✓  BYTERIDE
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i="1" dirty="0">
                <a:solidFill>
                  <a:srgbClr val="F5F7FF"/>
                </a:solidFill>
              </a:rPr>
              <a:t>“Total for 2026-05-01 to 2026-05-31: ₹1,62,50,89,107.”
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B98C7"/>
                </a:solidFill>
              </a:rPr>
              <a:t>+ the exact SQL, 25 masked evidence rows, a confidence badge, and anomaly flags — a real recorded answer.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ByteRide Finance Assistant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3566160"/>
            <a:ext cx="5943600" cy="5943600"/>
          </a:xfrm>
          <a:prstGeom prst="ellipse">
            <a:avLst/>
          </a:prstGeom>
          <a:solidFill>
            <a:srgbClr val="1D2557">
              <a:alpha val="4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D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0408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picture: the request path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5029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 → planner (small LLM) → QuerySpec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QuerySpec → validator → compiler → parameterised SQL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 → DuckDB → result + evidence rows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→ narrator (small LLM) → numeric guard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4251960"/>
            <a:ext cx="5074920" cy="1783080"/>
          </a:xfrm>
          <a:prstGeom prst="roundRect">
            <a:avLst>
              <a:gd name="adj" fmla="val 4615"/>
            </a:avLst>
          </a:prstGeom>
          <a:solidFill>
            <a:srgbClr val="232C6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443484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spc="100" kern="0" dirty="0">
                <a:solidFill>
                  <a:srgbClr val="8B98C7"/>
                </a:solidFill>
              </a:rPr>
              <a:t>THE ONE RULE
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00D2B4"/>
                </a:solidFill>
              </a:rPr>
              <a:t>The LLM never does arithmetic. SQL is compiled from a validated spec — the model never sees a data row.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789420" y="502920"/>
            <a:ext cx="3703320" cy="603504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9" name="Image 0" descr="/Users/NS/Bessemer_Tech_Catalyst_Hackathon/docs/architecture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018020" y="685800"/>
            <a:ext cx="3246120" cy="566928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789420" y="659282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request-path diagram — docs/architecture-1.png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ByteRide Finance Assistant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3566160"/>
            <a:ext cx="5943600" cy="5943600"/>
          </a:xfrm>
          <a:prstGeom prst="ellipse">
            <a:avLst/>
          </a:prstGeom>
          <a:solidFill>
            <a:srgbClr val="1D2557">
              <a:alpha val="4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D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TRUST, BY DESIGN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0408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an answer verifiable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626614" cy="1874520"/>
          </a:xfrm>
          <a:prstGeom prst="roundRect">
            <a:avLst>
              <a:gd name="adj" fmla="val 4390"/>
            </a:avLst>
          </a:prstGeom>
          <a:solidFill>
            <a:srgbClr val="232C6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874520"/>
            <a:ext cx="292608" cy="292608"/>
          </a:xfrm>
          <a:prstGeom prst="ellipse">
            <a:avLst/>
          </a:prstGeom>
          <a:solidFill>
            <a:srgbClr val="00D2B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258568"/>
            <a:ext cx="22242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shown with every answer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715768"/>
            <a:ext cx="22242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parameterised SQL that produced the number ships alongside it.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76422" y="1691640"/>
            <a:ext cx="2626614" cy="1874520"/>
          </a:xfrm>
          <a:prstGeom prst="roundRect">
            <a:avLst>
              <a:gd name="adj" fmla="val 4390"/>
            </a:avLst>
          </a:prstGeom>
          <a:solidFill>
            <a:srgbClr val="232C6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59302" y="1874520"/>
            <a:ext cx="292608" cy="292608"/>
          </a:xfrm>
          <a:prstGeom prst="ellipse">
            <a:avLst/>
          </a:prstGeom>
          <a:solidFill>
            <a:srgbClr val="00D2B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559302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577590" y="2258568"/>
            <a:ext cx="22242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rows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3577590" y="2715768"/>
            <a:ext cx="22242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25 real, PII-masked rows returned with every aggregate — the answer is checkable, not asserted.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04204" y="1691640"/>
            <a:ext cx="2626614" cy="1874520"/>
          </a:xfrm>
          <a:prstGeom prst="roundRect">
            <a:avLst>
              <a:gd name="adj" fmla="val 4390"/>
            </a:avLst>
          </a:prstGeom>
          <a:solidFill>
            <a:srgbClr val="232C6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87084" y="1874520"/>
            <a:ext cx="292608" cy="292608"/>
          </a:xfrm>
          <a:prstGeom prst="ellipse">
            <a:avLst/>
          </a:prstGeom>
          <a:solidFill>
            <a:srgbClr val="00D2B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387084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05372" y="2258568"/>
            <a:ext cx="22242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badge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405372" y="2715768"/>
            <a:ext cx="22242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/ medium / low, from planner self-consistency, fuzzy-match usage, row count and comparison validity.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031986" y="1691640"/>
            <a:ext cx="2626614" cy="1874520"/>
          </a:xfrm>
          <a:prstGeom prst="roundRect">
            <a:avLst>
              <a:gd name="adj" fmla="val 4390"/>
            </a:avLst>
          </a:prstGeom>
          <a:solidFill>
            <a:srgbClr val="232C6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214866" y="1874520"/>
            <a:ext cx="292608" cy="292608"/>
          </a:xfrm>
          <a:prstGeom prst="ellipse">
            <a:avLst/>
          </a:prstGeom>
          <a:solidFill>
            <a:srgbClr val="00D2B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14866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233154" y="2258568"/>
            <a:ext cx="22242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flags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9233154" y="2715768"/>
            <a:ext cx="22242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statistics (median + MAD on log amounts) flag outliers deterministically — no model involved.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3767328"/>
            <a:ext cx="2626614" cy="1874520"/>
          </a:xfrm>
          <a:prstGeom prst="roundRect">
            <a:avLst>
              <a:gd name="adj" fmla="val 4390"/>
            </a:avLst>
          </a:prstGeom>
          <a:solidFill>
            <a:srgbClr val="232C6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31520" y="3950208"/>
            <a:ext cx="292608" cy="292608"/>
          </a:xfrm>
          <a:prstGeom prst="ellipse">
            <a:avLst/>
          </a:prstGeom>
          <a:solidFill>
            <a:srgbClr val="00D2B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31520" y="3950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49808" y="4334256"/>
            <a:ext cx="22242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refusals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749808" y="4791456"/>
            <a:ext cx="22242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“This dataset has no reconciliation status … I will not infer one.” Declines instead of guessing.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376422" y="3767328"/>
            <a:ext cx="2626614" cy="1874520"/>
          </a:xfrm>
          <a:prstGeom prst="roundRect">
            <a:avLst>
              <a:gd name="adj" fmla="val 4390"/>
            </a:avLst>
          </a:prstGeom>
          <a:solidFill>
            <a:srgbClr val="232C6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559302" y="3950208"/>
            <a:ext cx="292608" cy="292608"/>
          </a:xfrm>
          <a:prstGeom prst="ellipse">
            <a:avLst/>
          </a:prstGeom>
          <a:solidFill>
            <a:srgbClr val="00D2B4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3559302" y="3950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3577590" y="4334256"/>
            <a:ext cx="22242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audit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3577590" y="4791456"/>
            <a:ext cx="22242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/boundary logs every prompt sent to a model. Rule: the model receives the question and the schema, never a data row.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204204" y="3767328"/>
            <a:ext cx="2626614" cy="1874520"/>
          </a:xfrm>
          <a:prstGeom prst="roundRect">
            <a:avLst>
              <a:gd name="adj" fmla="val 4390"/>
            </a:avLst>
          </a:prstGeom>
          <a:solidFill>
            <a:srgbClr val="232C6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387084" y="3950208"/>
            <a:ext cx="292608" cy="292608"/>
          </a:xfrm>
          <a:prstGeom prst="ellipse">
            <a:avLst/>
          </a:prstGeom>
          <a:solidFill>
            <a:srgbClr val="00D2B4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387084" y="3950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6405372" y="4334256"/>
            <a:ext cx="22242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masked in ETL</a:t>
            </a:r>
            <a:endParaRPr lang="en-US" sz="1350" dirty="0"/>
          </a:p>
        </p:txBody>
      </p:sp>
      <p:sp>
        <p:nvSpPr>
          <p:cNvPr id="39" name="Text 37"/>
          <p:cNvSpPr txBox="1"/>
          <p:nvPr/>
        </p:nvSpPr>
        <p:spPr>
          <a:xfrm>
            <a:off x="6405372" y="4791456"/>
            <a:ext cx="22242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account_number → last 4 digits; utr_number → [redacted]. Masking happens in SQL — raw values never leave the database.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ByteRide Finance Assistant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3566160"/>
            <a:ext cx="5943600" cy="5943600"/>
          </a:xfrm>
          <a:prstGeom prst="ellipse">
            <a:avLst/>
          </a:prstGeom>
          <a:solidFill>
            <a:srgbClr val="1D2557">
              <a:alpha val="4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D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JUDGEMENT CALLS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0408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scope decisions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34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calls the real schema forced — each one a deliberate choice, not a lookup.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5394960" cy="969264"/>
          </a:xfrm>
          <a:prstGeom prst="roundRect">
            <a:avLst>
              <a:gd name="adj" fmla="val 8491"/>
            </a:avLst>
          </a:prstGeom>
          <a:solidFill>
            <a:srgbClr val="232C6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85800" y="1737360"/>
            <a:ext cx="4572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2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810512"/>
            <a:ext cx="4526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F5F7FF"/>
                </a:solidFill>
              </a:rPr>
              <a:t>Reconciliation — dropped
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CADCFC"/>
                </a:solidFill>
              </a:rPr>
              <a:t>Not in the data. The assistant must say so instead of inventing a status.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816352"/>
            <a:ext cx="5394960" cy="969264"/>
          </a:xfrm>
          <a:prstGeom prst="roundRect">
            <a:avLst>
              <a:gd name="adj" fmla="val 8491"/>
            </a:avLst>
          </a:prstGeom>
          <a:solidFill>
            <a:srgbClr val="232C6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85800" y="2816352"/>
            <a:ext cx="4572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2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889504"/>
            <a:ext cx="4526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F5F7FF"/>
                </a:solidFill>
              </a:rPr>
              <a:t>Scope: personal spend analytics
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CADCFC"/>
                </a:solidFill>
              </a:rPr>
              <a:t>Vendor / category / channel / bank / period breakdowns, comparisons, lookups. Budgets, forecasts and chart-of-accounts are refused.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895344"/>
            <a:ext cx="5394960" cy="969264"/>
          </a:xfrm>
          <a:prstGeom prst="roundRect">
            <a:avLst>
              <a:gd name="adj" fmla="val 8491"/>
            </a:avLst>
          </a:prstGeom>
          <a:solidFill>
            <a:srgbClr val="232C6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85800" y="3895344"/>
            <a:ext cx="4572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2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968496"/>
            <a:ext cx="4526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F5F7FF"/>
                </a:solidFill>
              </a:rPr>
              <a:t>Categories are derived
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CADCFC"/>
                </a:solidFill>
              </a:rPr>
              <a:t>app/enrich.py classifies each narration at load time (TAX, SALARY, RENT, …, UNCATEGORISED) — never stored, never authoritative.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974336"/>
            <a:ext cx="5394960" cy="969264"/>
          </a:xfrm>
          <a:prstGeom prst="roundRect">
            <a:avLst>
              <a:gd name="adj" fmla="val 8491"/>
            </a:avLst>
          </a:prstGeom>
          <a:solidFill>
            <a:srgbClr val="232C6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85800" y="4974336"/>
            <a:ext cx="4572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2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5047488"/>
            <a:ext cx="4526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F5F7FF"/>
                </a:solidFill>
              </a:rPr>
              <a:t>Vendors parsed from free text
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CADCFC"/>
                </a:solidFill>
              </a:rPr>
              <a:t>No vendor table. Counterparty is parsed from the narration at load time. Open issue: branch/location noise still splits some vendors in two.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63640" y="1737360"/>
            <a:ext cx="5394960" cy="969264"/>
          </a:xfrm>
          <a:prstGeom prst="roundRect">
            <a:avLst>
              <a:gd name="adj" fmla="val 8491"/>
            </a:avLst>
          </a:prstGeom>
          <a:solidFill>
            <a:srgbClr val="232C6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400800" y="1737360"/>
            <a:ext cx="4572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2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6949440" y="1810512"/>
            <a:ext cx="4526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F5F7FF"/>
                </a:solidFill>
              </a:rPr>
              <a:t>Encryption: ETL only
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CADCFC"/>
                </a:solidFill>
              </a:rPr>
              <a:t>AES-256 decrypt happens once at load, never per query. account_number masked to last 4; utr_number never decrypted.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63640" y="2816352"/>
            <a:ext cx="5394960" cy="969264"/>
          </a:xfrm>
          <a:prstGeom prst="roundRect">
            <a:avLst>
              <a:gd name="adj" fmla="val 8491"/>
            </a:avLst>
          </a:prstGeom>
          <a:solidFill>
            <a:srgbClr val="232C6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400800" y="2816352"/>
            <a:ext cx="4572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2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6949440" y="2889504"/>
            <a:ext cx="4526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F5F7FF"/>
                </a:solidFill>
              </a:rPr>
              <a:t>DuckDB over Snowflake
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CADCFC"/>
                </a:solidFill>
              </a:rPr>
              <a:t>Decided: identical demo, but no venue-wifi dependency and no cold-warehouse pause at the worst moment.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63640" y="3895344"/>
            <a:ext cx="5394960" cy="969264"/>
          </a:xfrm>
          <a:prstGeom prst="roundRect">
            <a:avLst>
              <a:gd name="adj" fmla="val 8491"/>
            </a:avLst>
          </a:prstGeom>
          <a:solidFill>
            <a:srgbClr val="232C6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400800" y="3895344"/>
            <a:ext cx="4572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2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6949440" y="3968496"/>
            <a:ext cx="4526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F5F7FF"/>
                </a:solidFill>
              </a:rPr>
              <a:t>Negative balances — open
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CADCFC"/>
                </a:solidFill>
              </a:rPr>
              <a:t>available_balance runs to −₹13,16,29,423 on several accounts. Sign convention or export issue — asked the organisers.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ByteRide Finance Assistant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3566160"/>
            <a:ext cx="5943600" cy="5943600"/>
          </a:xfrm>
          <a:prstGeom prst="ellipse">
            <a:avLst/>
          </a:prstGeom>
          <a:solidFill>
            <a:srgbClr val="1D2557">
              <a:alpha val="4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D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CHOICE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0408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small local models, and when to escalate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0D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SMALL &amp; LOCAL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6596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— the model receives only the question and the schema, never a data row (app/boundary.py, audited).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— no per-token bill for local inference against a self-hosted Ollama server.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— no network hop; the whole pipeline answers in ~1.5–2s end to end.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4343400"/>
            <a:ext cx="4937760" cy="1691640"/>
          </a:xfrm>
          <a:prstGeom prst="roundRect">
            <a:avLst>
              <a:gd name="adj" fmla="val 4865"/>
            </a:avLst>
          </a:prstGeom>
          <a:solidFill>
            <a:srgbClr val="232C6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4526280"/>
            <a:ext cx="4434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spc="100" kern="0" dirty="0">
                <a:solidFill>
                  <a:srgbClr val="8B98C7"/>
                </a:solidFill>
              </a:rPr>
              <a:t>HOSTED VARIANT (LIVE ON RENDER)
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5F7FF"/>
                </a:solidFill>
              </a:rPr>
              <a:t>gemini-3.5-flash-lite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</a:rPr>
              <a:t>for planner / narrator / router; 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5F7FF"/>
                </a:solidFill>
              </a:rPr>
              <a:t>gemini-3.6-flash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</a:rPr>
              <a:t>as the cloud escalation tier — same config/models.yaml roles, same pipeline.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852160" y="1600200"/>
            <a:ext cx="5806440" cy="1417320"/>
          </a:xfrm>
          <a:prstGeom prst="roundRect">
            <a:avLst>
              <a:gd name="adj" fmla="val 5806"/>
            </a:avLst>
          </a:prstGeom>
          <a:solidFill>
            <a:srgbClr val="232C6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126480" y="178308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98C7"/>
                </a:solidFill>
              </a:rPr>
              <a:t>DEFAULT TIER
</a:t>
            </a:r>
            <a:endParaRPr lang="en-US" sz="1100" dirty="0"/>
          </a:p>
          <a:p>
            <a:pPr indent="0" marL="0">
              <a:buNone/>
            </a:pPr>
            <a:r>
              <a:rPr lang="en-US" sz="2400" b="1" dirty="0">
                <a:solidFill>
                  <a:srgbClr val="00D2B4"/>
                </a:solidFill>
              </a:rPr>
              <a:t>qwen3:4b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  — planner, narrator, router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126480" y="2286000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question starts here. Deterministic sampling (temperature 0, seed 42) so the same question gets the same spec.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852160" y="3154680"/>
            <a:ext cx="5806440" cy="1417320"/>
          </a:xfrm>
          <a:prstGeom prst="roundRect">
            <a:avLst>
              <a:gd name="adj" fmla="val 5806"/>
            </a:avLst>
          </a:prstGeom>
          <a:solidFill>
            <a:srgbClr val="232C6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126480" y="333756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98C7"/>
                </a:solidFill>
              </a:rPr>
              <a:t>ESCALATION TIER
</a:t>
            </a:r>
            <a:endParaRPr lang="en-US" sz="11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2A65A"/>
                </a:solidFill>
              </a:rPr>
              <a:t>qwen3:8b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  — a genuinely larger model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3840480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Escalating to the same model proves nothing — 8b must differ from the 4b planner for the rate to mean anything.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852160" y="4709160"/>
            <a:ext cx="5806440" cy="1325880"/>
          </a:xfrm>
          <a:prstGeom prst="roundRect">
            <a:avLst>
              <a:gd name="adj" fmla="val 6207"/>
            </a:avLst>
          </a:prstGeom>
          <a:solidFill>
            <a:srgbClr val="232C6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126480" y="4892040"/>
            <a:ext cx="5303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spc="100" kern="0" dirty="0">
                <a:solidFill>
                  <a:srgbClr val="8B98C7"/>
                </a:solidFill>
              </a:rPr>
              <a:t>WHEN ESCALATION TRIGGERS
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5F7FF"/>
                </a:solidFill>
              </a:rPr>
              <a:t>• Planner self-consistency agreement falls below the confidence threshold, or
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5F7FF"/>
                </a:solidFill>
              </a:rPr>
              <a:t>• the validator's repair loop fails a second time.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ByteRide Finance Assistant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3566160"/>
            <a:ext cx="5943600" cy="5943600"/>
          </a:xfrm>
          <a:prstGeom prst="ellipse">
            <a:avLst/>
          </a:prstGeom>
          <a:solidFill>
            <a:srgbClr val="1D2557">
              <a:alpha val="4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D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EFFICIENCY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0408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comparison — golden set (55 cases)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2788920"/>
        </p:xfrm>
        <a:graphic>
          <a:graphicData uri="http://schemas.openxmlformats.org/drawingml/2006/table">
            <a:tbl>
              <a:tblPr/>
              <a:tblGrid>
                <a:gridCol w="2331720"/>
                <a:gridCol w="1965960"/>
                <a:gridCol w="2240280"/>
                <a:gridCol w="2240280"/>
                <a:gridCol w="1161288"/>
                <a:gridCol w="1161288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2163A"/>
                          </a:solidFill>
                        </a:rPr>
                        <a:t>Model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2B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2163A"/>
                          </a:solidFill>
                        </a:rPr>
                        <a:t>Params / size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2B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2163A"/>
                          </a:solidFill>
                        </a:rPr>
                        <a:t>Overall accuracy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2B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2163A"/>
                          </a:solidFill>
                        </a:rPr>
                        <a:t>Refusal correctness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2B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2163A"/>
                          </a:solidFill>
                        </a:rPr>
                        <a:t>Latency p50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2B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2163A"/>
                          </a:solidFill>
                        </a:rPr>
                        <a:t>Latency max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2B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</a:rPr>
                        <a:t>qwen3:1.7b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</a:rPr>
                        <a:t>2.0B / 1.36 GB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</a:rPr>
                        <a:t>54/55 (98%)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</a:rPr>
                        <a:t>11/11 (100%)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</a:rPr>
                        <a:t>458 ms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</a:rPr>
                        <a:t>3,546 ms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55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5F7FF"/>
                          </a:solidFill>
                        </a:rPr>
                        <a:t>qwen3:4b  — default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5F7FF"/>
                          </a:solidFill>
                        </a:rPr>
                        <a:t>4.0B / 2.5 GB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5F7FF"/>
                          </a:solidFill>
                        </a:rPr>
                        <a:t>55/55 (100%)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5F7FF"/>
                          </a:solidFill>
                        </a:rPr>
                        <a:t>11/11 (100%)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5F7FF"/>
                          </a:solidFill>
                        </a:rPr>
                        <a:t>1,517 ms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5F7FF"/>
                          </a:solidFill>
                        </a:rPr>
                        <a:t>7,502 ms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6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</a:rPr>
                        <a:t>qwen3:8b  — escalation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</a:rPr>
                        <a:t>8.2B / 5.23 GB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</a:rPr>
                        <a:t>54/55 (98%)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</a:rPr>
                        <a:t>11/11 (100%)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</a:rPr>
                        <a:t>2,014 ms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</a:rPr>
                        <a:t>29,013 ms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55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</a:rPr>
                        <a:t>tiered 4b→8b (samples=1)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</a:rPr>
                        <a:t>4b + 8b co-resident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</a:rPr>
                        <a:t>55/55 (100%)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</a:rPr>
                        <a:t>11/11 (100%)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</a:rPr>
                        <a:t>1,561 ms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</a:rPr>
                        <a:t>7,600 ms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5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</a:rPr>
                        <a:t>tiered 4b→8b (samples=3)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</a:rPr>
                        <a:t>4b + 8b co-resident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</a:rPr>
                        <a:t>55/55 (100%)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</a:rPr>
                        <a:t>11/11 (100%)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</a:rPr>
                        <a:t>1,533 ms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</a:rPr>
                        <a:t>2,753 ms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557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709160"/>
            <a:ext cx="11091672" cy="1417320"/>
          </a:xfrm>
          <a:prstGeom prst="roundRect">
            <a:avLst>
              <a:gd name="adj" fmla="val 5806"/>
            </a:avLst>
          </a:prstGeom>
          <a:solidFill>
            <a:srgbClr val="232C6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22960" y="4864608"/>
            <a:ext cx="10561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00D2B4"/>
                </a:solidFill>
              </a:rPr>
              <a:t>qwen3:4b 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5F7FF"/>
                </a:solidFill>
              </a:rPr>
              <a:t>is the pick: the only raw model at a clean 55/55, roughly 3.3× faster p50 than qwen3:8b. The escalation tier </a:t>
            </a:r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F2A65A"/>
                </a:solidFill>
              </a:rPr>
              <a:t>never engaged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5F7FF"/>
                </a:solidFill>
              </a:rPr>
              <a:t> on this golden set — 0 escalations in both tiered runs. qwen3:8b is not better here: it scored worse than 4b (54/55) while being both the largest and by far the slowest model (29s worst case).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ByteRide Finance Assistant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3566160"/>
            <a:ext cx="5943600" cy="5943600"/>
          </a:xfrm>
          <a:prstGeom prst="ellipse">
            <a:avLst/>
          </a:prstGeom>
          <a:solidFill>
            <a:srgbClr val="1D2557">
              <a:alpha val="4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D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EFFICIENCY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0408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model answered what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628900" cy="1417320"/>
          </a:xfrm>
          <a:prstGeom prst="roundRect">
            <a:avLst>
              <a:gd name="adj" fmla="val 5806"/>
            </a:avLst>
          </a:prstGeom>
          <a:solidFill>
            <a:srgbClr val="232C6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48640" y="1783080"/>
            <a:ext cx="26289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D2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487168"/>
            <a:ext cx="24094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golden-set cases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60420" y="1691640"/>
            <a:ext cx="2628900" cy="1417320"/>
          </a:xfrm>
          <a:prstGeom prst="roundRect">
            <a:avLst>
              <a:gd name="adj" fmla="val 5806"/>
            </a:avLst>
          </a:prstGeom>
          <a:solidFill>
            <a:srgbClr val="232C6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360420" y="1783080"/>
            <a:ext cx="26289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D2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44/55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3470148" y="2487168"/>
            <a:ext cx="24094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answered by qwen3:4b (80%)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72200" y="1691640"/>
            <a:ext cx="2628900" cy="1417320"/>
          </a:xfrm>
          <a:prstGeom prst="roundRect">
            <a:avLst>
              <a:gd name="adj" fmla="val 5806"/>
            </a:avLst>
          </a:prstGeom>
          <a:solidFill>
            <a:srgbClr val="232C6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172200" y="1783080"/>
            <a:ext cx="26289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D2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11/55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6281928" y="2487168"/>
            <a:ext cx="24094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refused before any model call (20%)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983980" y="1691640"/>
            <a:ext cx="2628900" cy="1417320"/>
          </a:xfrm>
          <a:prstGeom prst="roundRect">
            <a:avLst>
              <a:gd name="adj" fmla="val 5806"/>
            </a:avLst>
          </a:prstGeom>
          <a:solidFill>
            <a:srgbClr val="232C6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983980" y="1783080"/>
            <a:ext cx="26289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D2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0%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9093708" y="2487168"/>
            <a:ext cx="24094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escalated to qwen3:8b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3101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(default config) latency: p50 1,561 ms · max 7,600 ms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840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9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SET COMPOSITION (TAGS, 55 CASES)</a:t>
            </a:r>
            <a:endParaRPr lang="en-US" sz="11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457200" y="4114800"/>
          <a:ext cx="685800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Shape 17"/>
          <p:cNvSpPr/>
          <p:nvPr/>
        </p:nvSpPr>
        <p:spPr>
          <a:xfrm>
            <a:off x="7635240" y="4114800"/>
            <a:ext cx="4023360" cy="2331720"/>
          </a:xfrm>
          <a:prstGeom prst="roundRect">
            <a:avLst>
              <a:gd name="adj" fmla="val 3529"/>
            </a:avLst>
          </a:prstGeom>
          <a:solidFill>
            <a:srgbClr val="232C6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7863840" y="4279392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spc="100" kern="0" dirty="0">
                <a:solidFill>
                  <a:srgbClr val="F2A65A"/>
                </a:solidFill>
              </a:rPr>
              <a:t>KNOWN GAP
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5F7FF"/>
                </a:solidFill>
              </a:rPr>
              <a:t>The self-consistency escalation path (plan_with_confidence) is exercised by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/ask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5F7FF"/>
                </a:solidFill>
              </a:rPr>
              <a:t>, not by this eval harness — so a 0% escalation rate here means “untested”, not “never needed”.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ByteRide Finance Assistant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3566160"/>
            <a:ext cx="5943600" cy="5943600"/>
          </a:xfrm>
          <a:prstGeom prst="ellipse">
            <a:avLst/>
          </a:prstGeom>
          <a:solidFill>
            <a:srgbClr val="1D2557">
              <a:alpha val="4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D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0408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Golden-set results, per bucket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4069080"/>
        </p:xfrm>
        <a:graphic>
          <a:graphicData uri="http://schemas.openxmlformats.org/drawingml/2006/table">
            <a:tbl>
              <a:tblPr/>
              <a:tblGrid>
                <a:gridCol w="2377440"/>
                <a:gridCol w="1371600"/>
                <a:gridCol w="1828800"/>
                <a:gridCol w="1828800"/>
                <a:gridCol w="1828800"/>
                <a:gridCol w="1856232"/>
              </a:tblGrid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2163A"/>
                          </a:solidFill>
                        </a:rPr>
                        <a:t>Bucket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2B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2163A"/>
                          </a:solidFill>
                        </a:rPr>
                        <a:t>Total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2B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2163A"/>
                          </a:solidFill>
                        </a:rPr>
                        <a:t>1.7b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2B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2163A"/>
                          </a:solidFill>
                        </a:rPr>
                        <a:t>4b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2B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2163A"/>
                          </a:solidFill>
                        </a:rPr>
                        <a:t>8b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2B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2163A"/>
                          </a:solidFill>
                        </a:rPr>
                        <a:t>Tiered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2B4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5F7FF"/>
                          </a:solidFill>
                        </a:rPr>
                        <a:t>aggregate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ADCFC"/>
                          </a:solidFill>
                        </a:rPr>
                        <a:t>8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ADCFC"/>
                          </a:solidFill>
                        </a:rPr>
                        <a:t>8/8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ADCFC"/>
                          </a:solidFill>
                        </a:rPr>
                        <a:t>8/8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ADCFC"/>
                          </a:solidFill>
                        </a:rPr>
                        <a:t>8/8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ADCFC"/>
                          </a:solidFill>
                        </a:rPr>
                        <a:t>8/8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557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5F7FF"/>
                          </a:solidFill>
                        </a:rPr>
                        <a:t>ambiguous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ADCFC"/>
                          </a:solidFill>
                        </a:rPr>
                        <a:t>3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ADCFC"/>
                          </a:solidFill>
                        </a:rPr>
                        <a:t>3/3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ADCFC"/>
                          </a:solidFill>
                        </a:rPr>
                        <a:t>3/3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ADCFC"/>
                          </a:solidFill>
                        </a:rPr>
                        <a:t>3/3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ADCFC"/>
                          </a:solidFill>
                        </a:rPr>
                        <a:t>3/3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5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5F7FF"/>
                          </a:solidFill>
                        </a:rPr>
                        <a:t>category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ADCFC"/>
                          </a:solidFill>
                        </a:rPr>
                        <a:t>11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ADCFC"/>
                          </a:solidFill>
                        </a:rPr>
                        <a:t>11/11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ADCFC"/>
                          </a:solidFill>
                        </a:rPr>
                        <a:t>11/11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ADCFC"/>
                          </a:solidFill>
                        </a:rPr>
                        <a:t>11/11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ADCFC"/>
                          </a:solidFill>
                        </a:rPr>
                        <a:t>11/11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557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5F7FF"/>
                          </a:solidFill>
                        </a:rPr>
                        <a:t>channel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ADCFC"/>
                          </a:solidFill>
                        </a:rPr>
                        <a:t>1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ADCFC"/>
                          </a:solidFill>
                        </a:rPr>
                        <a:t>1/1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ADCFC"/>
                          </a:solidFill>
                        </a:rPr>
                        <a:t>1/1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ADCFC"/>
                          </a:solidFill>
                        </a:rPr>
                        <a:t>1/1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ADCFC"/>
                          </a:solidFill>
                        </a:rPr>
                        <a:t>1/1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5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5F7FF"/>
                          </a:solidFill>
                        </a:rPr>
                        <a:t>dates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ADCFC"/>
                          </a:solidFill>
                        </a:rPr>
                        <a:t>16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ADCFC"/>
                          </a:solidFill>
                        </a:rPr>
                        <a:t>16/16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ADCFC"/>
                          </a:solidFill>
                        </a:rPr>
                        <a:t>16/16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8A80"/>
                          </a:solidFill>
                        </a:rPr>
                        <a:t>15/16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ADCFC"/>
                          </a:solidFill>
                        </a:rPr>
                        <a:t>16/16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557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5F7FF"/>
                          </a:solidFill>
                        </a:rPr>
                        <a:t>filter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ADCFC"/>
                          </a:solidFill>
                        </a:rPr>
                        <a:t>12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ADCFC"/>
                          </a:solidFill>
                        </a:rPr>
                        <a:t>12/12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ADCFC"/>
                          </a:solidFill>
                        </a:rPr>
                        <a:t>12/12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ADCFC"/>
                          </a:solidFill>
                        </a:rPr>
                        <a:t>12/12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ADCFC"/>
                          </a:solidFill>
                        </a:rPr>
                        <a:t>12/12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5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5F7FF"/>
                          </a:solidFill>
                        </a:rPr>
                        <a:t>grouped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ADCFC"/>
                          </a:solidFill>
                        </a:rPr>
                        <a:t>10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8A80"/>
                          </a:solidFill>
                        </a:rPr>
                        <a:t>9/10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ADCFC"/>
                          </a:solidFill>
                        </a:rPr>
                        <a:t>10/10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ADCFC"/>
                          </a:solidFill>
                        </a:rPr>
                        <a:t>10/10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ADCFC"/>
                          </a:solidFill>
                        </a:rPr>
                        <a:t>10/10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557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5F7FF"/>
                          </a:solidFill>
                        </a:rPr>
                        <a:t>metric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ADCFC"/>
                          </a:solidFill>
                        </a:rPr>
                        <a:t>4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8A80"/>
                          </a:solidFill>
                        </a:rPr>
                        <a:t>3/4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ADCFC"/>
                          </a:solidFill>
                        </a:rPr>
                        <a:t>4/4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ADCFC"/>
                          </a:solidFill>
                        </a:rPr>
                        <a:t>4/4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ADCFC"/>
                          </a:solidFill>
                        </a:rPr>
                        <a:t>4/4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5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5F7FF"/>
                          </a:solidFill>
                        </a:rPr>
                        <a:t>multiturn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ADCFC"/>
                          </a:solidFill>
                        </a:rPr>
                        <a:t>5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ADCFC"/>
                          </a:solidFill>
                        </a:rPr>
                        <a:t>5/5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ADCFC"/>
                          </a:solidFill>
                        </a:rPr>
                        <a:t>5/5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ADCFC"/>
                          </a:solidFill>
                        </a:rPr>
                        <a:t>5/5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ADCFC"/>
                          </a:solidFill>
                        </a:rPr>
                        <a:t>5/5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557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5F7FF"/>
                          </a:solidFill>
                        </a:rPr>
                        <a:t>refusal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ADCFC"/>
                          </a:solidFill>
                        </a:rPr>
                        <a:t>11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ADCFC"/>
                          </a:solidFill>
                        </a:rPr>
                        <a:t>11/11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ADCFC"/>
                          </a:solidFill>
                        </a:rPr>
                        <a:t>11/11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ADCFC"/>
                          </a:solidFill>
                        </a:rPr>
                        <a:t>11/11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ADCFC"/>
                          </a:solidFill>
                        </a:rPr>
                        <a:t>11/11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5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5F7FF"/>
                          </a:solidFill>
                        </a:rPr>
                        <a:t>vendor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ADCFC"/>
                          </a:solidFill>
                        </a:rPr>
                        <a:t>2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ADCFC"/>
                          </a:solidFill>
                        </a:rPr>
                        <a:t>2/2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ADCFC"/>
                          </a:solidFill>
                        </a:rPr>
                        <a:t>2/2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ADCFC"/>
                          </a:solidFill>
                        </a:rPr>
                        <a:t>2/2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ADCFC"/>
                          </a:solidFill>
                        </a:rPr>
                        <a:t>2/2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216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557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8064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5F7FF"/>
                </a:solidFill>
              </a:rPr>
              <a:t>Refusal correctness: </a:t>
            </a:r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0D2B4"/>
                </a:solidFill>
              </a:rPr>
              <a:t>11/11 (100%)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ADCFC"/>
                </a:solidFill>
              </a:rPr>
              <a:t>across every configuration tested — including the two single misses shown in red (1.7b on a grouping spec, 8b on a date-range spec).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ByteRide Finance Assistant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3566160"/>
            <a:ext cx="5943600" cy="5943600"/>
          </a:xfrm>
          <a:prstGeom prst="ellipse">
            <a:avLst/>
          </a:prstGeom>
          <a:solidFill>
            <a:srgbClr val="1D2557">
              <a:alpha val="4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D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FLOW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steps to the money shot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435608"/>
            <a:ext cx="420624" cy="420624"/>
          </a:xfrm>
          <a:prstGeom prst="ellipse">
            <a:avLst/>
          </a:prstGeom>
          <a:solidFill>
            <a:srgbClr val="00D2B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4356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170432" y="1371600"/>
            <a:ext cx="10442448" cy="749808"/>
          </a:xfrm>
          <a:prstGeom prst="roundRect">
            <a:avLst>
              <a:gd name="adj" fmla="val 10976"/>
            </a:avLst>
          </a:prstGeom>
          <a:solidFill>
            <a:srgbClr val="232C6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399032" y="143560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“Which vendors did I pay the most last month?”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399032" y="1746504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 BAJAJ FINANCE is highest at ₹13,73,25,576. Followed by LIC PREMIUM POLICY at ₹3,03,80,709.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258568"/>
            <a:ext cx="420624" cy="420624"/>
          </a:xfrm>
          <a:prstGeom prst="ellipse">
            <a:avLst/>
          </a:prstGeom>
          <a:solidFill>
            <a:srgbClr val="00D2B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2585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170432" y="2194560"/>
            <a:ext cx="10442448" cy="749808"/>
          </a:xfrm>
          <a:prstGeom prst="roundRect">
            <a:avLst>
              <a:gd name="adj" fmla="val 10976"/>
            </a:avLst>
          </a:prstGeom>
          <a:solidFill>
            <a:srgbClr val="232C6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99032" y="225856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the SQL + evidence panel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1399032" y="2569464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parameterised SQL, plus masked evidence rows (account_number → XXXXXX1922, utr_number → [redacted]).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081528"/>
            <a:ext cx="420624" cy="420624"/>
          </a:xfrm>
          <a:prstGeom prst="ellipse">
            <a:avLst/>
          </a:prstGeom>
          <a:solidFill>
            <a:srgbClr val="00D2B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081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170432" y="3017520"/>
            <a:ext cx="10442448" cy="749808"/>
          </a:xfrm>
          <a:prstGeom prst="roundRect">
            <a:avLst>
              <a:gd name="adj" fmla="val 10976"/>
            </a:avLst>
          </a:prstGeom>
          <a:solidFill>
            <a:srgbClr val="232C6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399032" y="308152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does that compare with the month before?” (same session)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1399032" y="3392424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biggest move is BIG BAZAAR RETAIL, up ₹1,13,26,049 — no context repeated in the follow-up question.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904488"/>
            <a:ext cx="420624" cy="420624"/>
          </a:xfrm>
          <a:prstGeom prst="ellipse">
            <a:avLst/>
          </a:prstGeom>
          <a:solidFill>
            <a:srgbClr val="00D2B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39044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170432" y="3840480"/>
            <a:ext cx="10442448" cy="749808"/>
          </a:xfrm>
          <a:prstGeom prst="roundRect">
            <a:avLst>
              <a:gd name="adj" fmla="val 10976"/>
            </a:avLst>
          </a:prstGeom>
          <a:solidFill>
            <a:srgbClr val="232C6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399032" y="390448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much tax did I pay this year?”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1399032" y="4215384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for 2026-01-01 to 2026-12-31: ₹1,95,63,10,950 — a derived category, shown as derived.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727448"/>
            <a:ext cx="420624" cy="420624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48640" y="47274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1170432" y="4663440"/>
            <a:ext cx="10442448" cy="749808"/>
          </a:xfrm>
          <a:prstGeom prst="roundRect">
            <a:avLst>
              <a:gd name="adj" fmla="val 10976"/>
            </a:avLst>
          </a:prstGeom>
          <a:solidFill>
            <a:srgbClr val="232C6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399032" y="47274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“Which transactions are unreconciled?” — the money shot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1399032" y="5038344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“This dataset has no reconciliation status … I will not infer one.” Refuses cleanly in 0.007s.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5550408"/>
            <a:ext cx="420624" cy="420624"/>
          </a:xfrm>
          <a:prstGeom prst="ellipse">
            <a:avLst/>
          </a:prstGeom>
          <a:solidFill>
            <a:srgbClr val="00D2B4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48640" y="5550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1170432" y="5486400"/>
            <a:ext cx="10442448" cy="749808"/>
          </a:xfrm>
          <a:prstGeom prst="roundRect">
            <a:avLst>
              <a:gd name="adj" fmla="val 10976"/>
            </a:avLst>
          </a:prstGeom>
          <a:solidFill>
            <a:srgbClr val="232C6B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1399032" y="555040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/efficiency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1399032" y="5861304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model answered, and the escalation rate — the model-efficiency claim, live.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ByteRide Finance Assistant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3566160"/>
            <a:ext cx="5943600" cy="5943600"/>
          </a:xfrm>
          <a:prstGeom prst="ellipse">
            <a:avLst/>
          </a:prstGeom>
          <a:solidFill>
            <a:srgbClr val="1D2557">
              <a:alpha val="4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D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0408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 — known limitations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94960" cy="1298448"/>
          </a:xfrm>
          <a:prstGeom prst="roundRect">
            <a:avLst>
              <a:gd name="adj" fmla="val 6338"/>
            </a:avLst>
          </a:prstGeom>
          <a:solidFill>
            <a:srgbClr val="232C6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18013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name splitting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67128"/>
            <a:ext cx="4937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Branch/location noise (“X” vs “X DAHISAR EAST”) still corrupts some “where did I spend most” answers — needs a real place-name list, not ten sample rows.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5394960" cy="1298448"/>
          </a:xfrm>
          <a:prstGeom prst="roundRect">
            <a:avLst>
              <a:gd name="adj" fmla="val 6338"/>
            </a:avLst>
          </a:prstGeom>
          <a:solidFill>
            <a:srgbClr val="232C6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77240" y="326440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rules need the real corpus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630168"/>
            <a:ext cx="4937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rules are tuned against a handful of examples; must be re-validated once the organisers' full export lands.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4617720"/>
            <a:ext cx="5394960" cy="1298448"/>
          </a:xfrm>
          <a:prstGeom prst="roundRect">
            <a:avLst>
              <a:gd name="adj" fmla="val 6338"/>
            </a:avLst>
          </a:prstGeom>
          <a:solidFill>
            <a:srgbClr val="232C6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77240" y="472744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UNCATEGORISED coverage unreported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5093208"/>
            <a:ext cx="4937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UNCATEGORISED percentage isn't yet surfaced in the pipeline — if it's high, spend-by-category answers understate the gap.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1691640"/>
            <a:ext cx="5394960" cy="1298448"/>
          </a:xfrm>
          <a:prstGeom prst="roundRect">
            <a:avLst>
              <a:gd name="adj" fmla="val 6338"/>
            </a:avLst>
          </a:prstGeom>
          <a:solidFill>
            <a:srgbClr val="232C6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492240" y="18013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balances — open question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2167128"/>
            <a:ext cx="4937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available_balance runs to −₹13,16,29,423 on several accounts. Sign convention or export issue, unresolved — asked the organisers.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63640" y="3154680"/>
            <a:ext cx="5394960" cy="1298448"/>
          </a:xfrm>
          <a:prstGeom prst="roundRect">
            <a:avLst>
              <a:gd name="adj" fmla="val 6338"/>
            </a:avLst>
          </a:prstGeom>
          <a:solidFill>
            <a:srgbClr val="232C6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492240" y="326440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Amount-unit parsing gaps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3630168"/>
            <a:ext cx="4937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planner doesn't resolve “lakh” as a unit, and combining an amount filter with a date filter can silently drop the date — found during real Q&amp;A testing.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63640" y="4617720"/>
            <a:ext cx="5394960" cy="1298448"/>
          </a:xfrm>
          <a:prstGeom prst="roundRect">
            <a:avLst>
              <a:gd name="adj" fmla="val 6338"/>
            </a:avLst>
          </a:prstGeom>
          <a:solidFill>
            <a:srgbClr val="232C6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492240" y="472744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path untested by evals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5093208"/>
            <a:ext cx="4937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Self-consistency escalation is exercised by /ask but not by make eval — golden-set escalation rate should be read as “untested”, not “zero risk”.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ByteRide Finance Assistant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3566160"/>
            <a:ext cx="5943600" cy="5943600"/>
          </a:xfrm>
          <a:prstGeom prst="ellipse">
            <a:avLst/>
          </a:prstGeom>
          <a:solidFill>
            <a:srgbClr val="1D2557">
              <a:alpha val="4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D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0408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Repo, live demo, and how to run it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120640" cy="1234440"/>
          </a:xfrm>
          <a:prstGeom prst="roundRect">
            <a:avLst>
              <a:gd name="adj" fmla="val 6667"/>
            </a:avLst>
          </a:prstGeom>
          <a:solidFill>
            <a:srgbClr val="232C6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87452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spc="100" kern="0" dirty="0">
                <a:solidFill>
                  <a:srgbClr val="8B98C7"/>
                </a:solidFill>
              </a:rPr>
              <a:t>REPO
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5F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github.com/Aahan215/ByteRideFinanceAssistant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0" y="1691640"/>
            <a:ext cx="5696712" cy="1234440"/>
          </a:xfrm>
          <a:prstGeom prst="roundRect">
            <a:avLst>
              <a:gd name="adj" fmla="val 6667"/>
            </a:avLst>
          </a:prstGeom>
          <a:solidFill>
            <a:srgbClr val="232C6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217920" y="1828800"/>
            <a:ext cx="5212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spc="100" kern="0" dirty="0">
                <a:solidFill>
                  <a:srgbClr val="8B98C7"/>
                </a:solidFill>
              </a:rPr>
              <a:t>LIVE DEMO
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0D2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byteride-finance-assistant.onrender.com
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</a:rPr>
              <a:t>Render free tier — cold start up to ~1 min, hosted Gemini, synthetic 200k-row dataset.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246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D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LOCALLY — THREE COMMANDS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611880"/>
            <a:ext cx="11091672" cy="2148840"/>
          </a:xfrm>
          <a:prstGeom prst="roundRect">
            <a:avLst>
              <a:gd name="adj" fmla="val 3830"/>
            </a:avLst>
          </a:prstGeom>
          <a:solidFill>
            <a:srgbClr val="0C0F2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68680" y="3794760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00D2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make setup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00D2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make load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00D2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make ui-install &amp;&amp; make ui-build &amp;&amp; make run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5166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open http://localhost:8765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ByteRide Finance Assistant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2026-09-05T12:06:09Z</dcterms:created>
  <dcterms:modified xsi:type="dcterms:W3CDTF">2026-09-05T12:06:09Z</dcterms:modified>
</cp:coreProperties>
</file>