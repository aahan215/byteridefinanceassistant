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D2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dates</c:v>
                  </c:pt>
                  <c:pt idx="1">
                    <c:v>filter</c:v>
                  </c:pt>
                  <c:pt idx="2">
                    <c:v>category</c:v>
                  </c:pt>
                  <c:pt idx="3">
                    <c:v>refusal</c:v>
                  </c:pt>
                  <c:pt idx="4">
                    <c:v>grouped</c:v>
                  </c:pt>
                  <c:pt idx="5">
                    <c:v>aggregate</c:v>
                  </c:pt>
                  <c:pt idx="6">
                    <c:v>multiturn</c:v>
                  </c:pt>
                  <c:pt idx="7">
                    <c:v>metric</c:v>
                  </c:pt>
                  <c:pt idx="8">
                    <c:v>ambiguous</c:v>
                  </c:pt>
                  <c:pt idx="9">
                    <c:v>vendor</c:v>
                  </c:pt>
                  <c:pt idx="10">
                    <c:v>channel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18</c:v>
                </c:pt>
                <c:pt idx="1">
                  <c:v>14</c:v>
                </c:pt>
                <c:pt idx="2">
                  <c:v>11</c:v>
                </c:pt>
                <c:pt idx="3">
                  <c:v>11</c:v>
                </c:pt>
                <c:pt idx="4">
                  <c:v>10</c:v>
                </c:pt>
                <c:pt idx="5">
                  <c:v>8</c:v>
                </c:pt>
                <c:pt idx="6">
                  <c:v>5</c:v>
                </c:pt>
                <c:pt idx="7">
                  <c:v>4</c:v>
                </c:pt>
                <c:pt idx="8">
                  <c:v>3</c:v>
                </c:pt>
                <c:pt idx="9">
                  <c:v>2</c:v>
                </c:pt>
                <c:pt idx="1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3A"/>
        </a:solidFill>
        <a:ln>
          <a:noFill/>
        </a:ln>
        <a:effectLst/>
      </c:spPr>
    </c:plotArea>
    <c:plotVisOnly val="1"/>
    <c:dispBlanksAs val="span"/>
  </c:chart>
  <c:spPr>
    <a:solidFill>
      <a:srgbClr val="1216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9659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BYTERIDE FINANCE ASSISTANT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over a financial ledger — every answer computed by SQL against real records, never guessed by a model.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BVP TECH CATALYST HACKATHON  ·  5-PERSON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5532120"/>
            <a:ext cx="6309360" cy="658368"/>
          </a:xfrm>
          <a:prstGeom prst="roundRect">
            <a:avLst>
              <a:gd name="adj" fmla="val 1250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553212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8C7"/>
                </a:solidFill>
              </a:rPr>
              <a:t>LIVE DEMO   </a:t>
            </a:r>
            <a:pPr indent="0" marL="0">
              <a:buNone/>
            </a:pPr>
            <a:r>
              <a:rPr lang="en-US" sz="1500" b="1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https://byteride-finance-assistant.onrender.com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answers over real transaction data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teams and individuals ask plain-English questions of raw transaction data: “where did I spend the most”, “what's my tax total”.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LLM answers by producing a plausible-looking number — no SQL, no evidence, no way to check it.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finance, a confident wrong number is worse than no answer at all.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needed: an assistant that computes with real records and shows its work — or admits, honestly, when the data can't answer.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737360"/>
            <a:ext cx="4663440" cy="1828800"/>
          </a:xfrm>
          <a:prstGeom prst="roundRect">
            <a:avLst>
              <a:gd name="adj" fmla="val 450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223760" y="192024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8A80"/>
                </a:solidFill>
              </a:rPr>
              <a:t>✖  A GENERIC LLM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CADCFC"/>
                </a:solidFill>
              </a:rPr>
              <a:t>“You spent about ₹15,90,000 last month.”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8C7"/>
                </a:solidFill>
              </a:rPr>
              <a:t>No SQL. No evidence. No way to verify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49440" y="3794760"/>
            <a:ext cx="4663440" cy="2148840"/>
          </a:xfrm>
          <a:prstGeom prst="roundRect">
            <a:avLst>
              <a:gd name="adj" fmla="val 383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223760" y="3977640"/>
            <a:ext cx="4114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D2B4"/>
                </a:solidFill>
              </a:rPr>
              <a:t>✓  BYTERIDE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F5F7FF"/>
                </a:solidFill>
              </a:rPr>
              <a:t>“Total for 2026-05-01 to 2026-05-31: ₹1,62,50,89,107.”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8C7"/>
                </a:solidFill>
              </a:rPr>
              <a:t>+ the exact SQL, 25 masked evidence rows, a confidence badge, and anomaly flags — a real recorded answer.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picture: the request path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→ planner (small LLM) → QuerySpec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QuerySpec → validator → compiler → parameterised SQL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→ DuckDB → result + evidence rows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→ narrator (small LLM) → numeric guard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251960"/>
            <a:ext cx="5074920" cy="1783080"/>
          </a:xfrm>
          <a:prstGeom prst="roundRect">
            <a:avLst>
              <a:gd name="adj" fmla="val 4615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44348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8B98C7"/>
                </a:solidFill>
              </a:rPr>
              <a:t>THE ONE RULE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D2B4"/>
                </a:solidFill>
              </a:rPr>
              <a:t>The LLM never does arithmetic. SQL is compiled from a validated spec — the model never sees a data row.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89420" y="502920"/>
            <a:ext cx="3703320" cy="603504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/Users/NS/Bessemer_Tech_Catalyst_Hackathon/docs/architecture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18020" y="685800"/>
            <a:ext cx="3246120" cy="56692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789420" y="65928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request-path diagram — docs/architecture-1.png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BY DESIGN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an answer verifiable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shown with every answer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parameterised SQL that produced the number ships alongside 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6422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59302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59302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77590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rows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77590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25 real, PII-masked rows returned with every aggregate — the answer is checkable, not asserted.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04204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87084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87084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5372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badge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low, from planner self-consistency, fuzzy-match usage, row count and comparison validity.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1986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14866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14866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233154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33154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statistics (median + MAD on log amounts) flag outliers deterministically — no model involved.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67328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" y="3950208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334256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refusals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791456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dataset has no reconciliation status … I will not infer one.” Declines instead of guessing.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376422" y="3767328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59302" y="3950208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9302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577590" y="4334256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audit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3577590" y="4791456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/boundary logs every prompt sent to a model. Rule: the model receives the question and the schema, never a data row.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04204" y="3767328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87084" y="3950208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7084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5372" y="4334256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masked in ETL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6405372" y="4791456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account_number → last 4 digits; utr_number → [redacted]. Masking happens in SQL — raw values never leave the database.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 CALLS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scope decisions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calls the real schema forced — each one a deliberate choice, not a lookup.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73736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10512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Reconciliation — dropped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Not in the data. The assistant must say so instead of inventing a status.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16352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281635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8950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Scope: personal spend analytics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Vendor / category / channel / bank / period breakdowns, comparisons, lookups. Budgets, forecasts and chart-of-accounts are refused.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95344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389534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68496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Categories are derived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app/enrich.py classifies each narration at load time (TAX, SALARY, RENT, …, UNCATEGORISED) — never stored, never authoritative.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974336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497433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047488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Vendors parsed from free text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No vendor table. Counterparty is parsed from the narration at load time. Open issue: branch/location noise still splits some vendors in two.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1737360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0800" y="173736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10512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Encryption: ETL only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AES-256 decrypt happens once at load, never per query. account_number masked to last 4; utr_number never decrypted.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2816352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00800" y="281635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88950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DuckDB over Snowflake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Decided: identical demo, but no venue-wifi dependency and no cold-warehouse pause at the worst moment.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3895344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00800" y="389534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968496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Negative balances — open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available_balance runs to −₹13,16,29,423 on several accounts. Sign convention or export issue — asked the organisers.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small local models, and when to escalate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SMALL &amp; LOCAL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— the model receives only the question and the schema, never a data row (app/boundary.py, audited).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no per-token bill for local inference against a self-hosted Ollama server.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— no network hop; the whole pipeline answers in ~1.5–2s end to end.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4343400"/>
            <a:ext cx="4937760" cy="1691640"/>
          </a:xfrm>
          <a:prstGeom prst="roundRect">
            <a:avLst>
              <a:gd name="adj" fmla="val 4865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52628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8B98C7"/>
                </a:solidFill>
              </a:rPr>
              <a:t>HOSTED VARIANT (LIVE ON RENDER)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7FF"/>
                </a:solidFill>
              </a:rPr>
              <a:t>gemini-3.5-flash-lite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for planner / narrator / router;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7FF"/>
                </a:solidFill>
              </a:rPr>
              <a:t>gemini-3.6-flash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as the cloud escalation tier — same config/models.yaml roles, same pipeline.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600200"/>
            <a:ext cx="580644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26480" y="17830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DEFAULT TIER
</a:t>
            </a:r>
            <a:endParaRPr lang="en-US" sz="1100" dirty="0"/>
          </a:p>
          <a:p>
            <a:pPr indent="0" marL="0">
              <a:buNone/>
            </a:pPr>
            <a:r>
              <a:rPr lang="en-US" sz="2400" b="1" dirty="0">
                <a:solidFill>
                  <a:srgbClr val="00D2B4"/>
                </a:solidFill>
              </a:rPr>
              <a:t>qwen3:4b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— planner, narrator, router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28600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starts here. Deterministic sampling (temperature 0, seed 42) so the same question gets the same spec.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852160" y="3154680"/>
            <a:ext cx="580644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26480" y="3337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ESCALATION TIER
</a:t>
            </a:r>
            <a:endParaRPr lang="en-US" sz="11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2A65A"/>
                </a:solidFill>
              </a:rPr>
              <a:t>qwen3:8b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— a genuinely larger model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84048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to the same model proves nothing — 8b must differ from the 4b planner for the rate to mean anything.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4709160"/>
            <a:ext cx="5806440" cy="1325880"/>
          </a:xfrm>
          <a:prstGeom prst="roundRect">
            <a:avLst>
              <a:gd name="adj" fmla="val 6207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126480" y="489204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WHEN ESCALATION TRIGGERS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5F7FF"/>
                </a:solidFill>
              </a:rPr>
              <a:t>• Planner self-consistency agreement falls below the confidence threshold, or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5F7FF"/>
                </a:solidFill>
              </a:rPr>
              <a:t>• the validator's repair loop fails a second time.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EFFICIENCY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 — golden set (57 cases)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2788920"/>
        </p:xfrm>
        <a:graphic>
          <a:graphicData uri="http://schemas.openxmlformats.org/drawingml/2006/table">
            <a:tbl>
              <a:tblPr/>
              <a:tblGrid>
                <a:gridCol w="2331720"/>
                <a:gridCol w="1965960"/>
                <a:gridCol w="2240280"/>
                <a:gridCol w="2240280"/>
                <a:gridCol w="1161288"/>
                <a:gridCol w="11612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Model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Params / size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Overall accuracy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Refusal correctness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Latency p50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Latency max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qwen3:1.7b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2.0B / 1.36 GB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57/57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467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736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5F7FF"/>
                          </a:solidFill>
                        </a:rPr>
                        <a:t>qwen3:4b  — default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4.0B / 2.5 GB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57/57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1,378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2,480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qwen3:8b — escalation (pre-fix)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8.2B / 5.23 GB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54/55 (98%)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2,014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29,013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tiered 4b→8b (samples=1)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4b + 8b co-resident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57/57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1,591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16,330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tiered 4b→8b (samples=3)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4b + 8b co-resident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57/57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4,399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32,996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864608"/>
            <a:ext cx="10561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0D2B4"/>
                </a:solidFill>
              </a:rPr>
              <a:t>qwen3:1.7b and qwen3:4b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F7FF"/>
                </a:solidFill>
              </a:rPr>
              <a:t>are tied at 57/57 on the current golden set; qwen3:1.7b is now the committed default, at roughly 3x qwen3:4b’s p50. Self-consistency escalation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2A65A"/>
                </a:solidFill>
              </a:rPr>
              <a:t>fires for the first time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F7FF"/>
                </a:solidFill>
              </a:rPr>
              <a:t> once samples=3 (2/57, 4%), at 100% accuracy on the escalated cases. qwen3:8b’s 54/55 predates the golden-set fix and was not re-run, so it isn’t a like-for-like comparison here.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EFFICIENCY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answered what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cases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042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6042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46/57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7014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by qwen3:4b (81%)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7220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11/57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8192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before any model call (19%)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8398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8398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09370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qwen3:8b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10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(default config) latency: p50 1,591 ms · max 16,330 ms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40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COMPOSITION (TAGS, 57 CASES)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4114800"/>
          <a:ext cx="685800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635240" y="4114800"/>
            <a:ext cx="4023360" cy="2331720"/>
          </a:xfrm>
          <a:prstGeom prst="roundRect">
            <a:avLst>
              <a:gd name="adj" fmla="val 3529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863840" y="4279392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100" kern="0" dirty="0">
                <a:solidFill>
                  <a:srgbClr val="F2A65A"/>
                </a:solidFill>
              </a:rPr>
              <a:t>ESCALATION AT SAMPLES=1
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5F7FF"/>
                </a:solidFill>
              </a:rPr>
              <a:t>At the committed samples=1 default, a single self-consistency sample can’t disagree with itself, so escalation is structurally 0% here — not evidence the tier doesn’t work. The same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plan_with_confidence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5F7FF"/>
                </a:solidFill>
              </a:rPr>
              <a:t> path escalates 2/57 cases (4%) once confidence.samples=3, at 100% accuracy on those cases — see the samples=3 comparison.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Golden-set results, per bucket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406908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828800"/>
                <a:gridCol w="1828800"/>
                <a:gridCol w="1828800"/>
                <a:gridCol w="1856232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Bucket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1.7b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8b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Tiered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aggregate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ambiguous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category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channel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dates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18/18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18/18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8A80"/>
                          </a:solidFill>
                        </a:rPr>
                        <a:t>15/16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18/18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filter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14/14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14/14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12/12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14/14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grouped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metric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multiturn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refusal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vendor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F"/>
                </a:solidFill>
              </a:rPr>
              <a:t>Refusal correctness: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D2B4"/>
                </a:solidFill>
              </a:rPr>
              <a:t>11/11 (100%)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</a:rPr>
              <a:t>across every configuration on the current 57-case set. The one miss shown in red (qwen3:8b on a date-range spec) is from its pre-fix, 55-case run — not re-run here, so its row is not directly comparable to the others’ totals.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FLOW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steps to the money shot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35608"/>
            <a:ext cx="420624" cy="420624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70432" y="1371600"/>
            <a:ext cx="10442448" cy="749808"/>
          </a:xfrm>
          <a:prstGeom prst="roundRect">
            <a:avLst>
              <a:gd name="adj" fmla="val 10976"/>
            </a:avLst>
          </a:prstGeom>
          <a:solidFill>
            <a:srgbClr val="232C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99032" y="1435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vendors did I pay the most last month?”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399032" y="174650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BAJAJ FINANCE is highest at ₹13,73,25,576. Followed by LIC PREMIUM POLICY at ₹3,03,80,709.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420624" cy="420624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170432" y="2194560"/>
            <a:ext cx="10442448" cy="749808"/>
          </a:xfrm>
          <a:prstGeom prst="roundRect">
            <a:avLst>
              <a:gd name="adj" fmla="val 10976"/>
            </a:avLst>
          </a:prstGeom>
          <a:solidFill>
            <a:srgbClr val="232C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99032" y="22585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SQL + evidence panel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399032" y="256946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parameterised SQL, plus masked evidence rows (account_number → XXXXXX1922, utr_number → [redacted]).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081528"/>
            <a:ext cx="420624" cy="420624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081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170432" y="3017520"/>
            <a:ext cx="10442448" cy="749808"/>
          </a:xfrm>
          <a:prstGeom prst="roundRect">
            <a:avLst>
              <a:gd name="adj" fmla="val 10976"/>
            </a:avLst>
          </a:prstGeom>
          <a:solidFill>
            <a:srgbClr val="232C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99032" y="30815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does that compare with the month before?” (same session)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399032" y="33924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move is BIG BAZAAR RETAIL, up ₹1,13,26,049 — no context repeated in the follow-up question.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04488"/>
            <a:ext cx="420624" cy="420624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170432" y="3840480"/>
            <a:ext cx="10442448" cy="749808"/>
          </a:xfrm>
          <a:prstGeom prst="roundRect">
            <a:avLst>
              <a:gd name="adj" fmla="val 10976"/>
            </a:avLst>
          </a:prstGeom>
          <a:solidFill>
            <a:srgbClr val="232C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399032" y="390448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much tax did I pay this year?”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399032" y="421538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for 2026-01-01 to 2026-12-31: ₹1,95,63,10,950 — a derived category, shown as derived.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727448"/>
            <a:ext cx="420624" cy="420624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727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170432" y="4663440"/>
            <a:ext cx="10442448" cy="749808"/>
          </a:xfrm>
          <a:prstGeom prst="roundRect">
            <a:avLst>
              <a:gd name="adj" fmla="val 10976"/>
            </a:avLst>
          </a:prstGeom>
          <a:solidFill>
            <a:srgbClr val="232C6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399032" y="47274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transactions are unreconciled?” — the money shot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399032" y="503834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dataset has no reconciliation status … I will not infer one.” Refuses cleanly in 0.007s.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550408"/>
            <a:ext cx="420624" cy="420624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5550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70432" y="5486400"/>
            <a:ext cx="10442448" cy="749808"/>
          </a:xfrm>
          <a:prstGeom prst="roundRect">
            <a:avLst>
              <a:gd name="adj" fmla="val 10976"/>
            </a:avLst>
          </a:prstGeom>
          <a:solidFill>
            <a:srgbClr val="232C6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399032" y="55504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/efficiency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99032" y="586130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 answered, and the escalation rate — the model-efficiency claim, live.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— known limitations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name splitting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6712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Branch/location noise (“X” vs “X DAHISAR EAST”) still corrupts some “where did I spend most” answers — needs a real place-name list, not ten sample rows.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3264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rules need the real corpus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3016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rules are tuned against a handful of examples; must be re-validated once the organisers' full export lands.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61772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47274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UNCATEGORISED coverage unreported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0932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UNCATEGORISED percentage isn't yet surfaced in the pipeline — if it's high, spend-by-category answers understate the gap.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1801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balances — open question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16712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available_balance runs to −₹13,16,29,423 on several accounts. Sign convention or export issue, unresolved — asked the organisers.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315468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3264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Amount-unit parsing gaps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63016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doesn't resolve “lakh” as a unit, and combining an amount filter with a date filter can silently drop the date — found during real Q&amp;A testing.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461772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92240" y="47274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path untested by evals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50932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escalation is exercised by /ask but not by make eval — golden-set escalation rate should be read as “untested”, not “zero risk”.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Repo, live demo, and how to run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REPO
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5F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github.com/Aahan215/ByteRideFinanceAssistant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0" y="1691640"/>
            <a:ext cx="5696712" cy="1234440"/>
          </a:xfrm>
          <a:prstGeom prst="roundRect">
            <a:avLst>
              <a:gd name="adj" fmla="val 6667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0" y="182880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LIVE DEMO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byteride-finance-assistant.onrender.com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Render free tier — cold start up to ~1 min, hosted Gemini, synthetic 200k-row dataset.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LOCALLY — THREE COMMANDS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11091672" cy="2148840"/>
          </a:xfrm>
          <a:prstGeom prst="roundRect">
            <a:avLst>
              <a:gd name="adj" fmla="val 3830"/>
            </a:avLst>
          </a:prstGeom>
          <a:solidFill>
            <a:srgbClr val="0C0F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3794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load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ui-install &amp;&amp; make ui-build &amp;&amp; make run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166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open http://localhost:8765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2026-09-05T12:06:09Z</dcterms:created>
  <dcterms:modified xsi:type="dcterms:W3CDTF">2026-09-05T12:06:09Z</dcterms:modified>
</cp:coreProperties>
</file>